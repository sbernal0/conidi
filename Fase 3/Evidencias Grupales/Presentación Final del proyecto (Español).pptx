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pxdhSBbu+vi/UEfx3cAok+Mdz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24FAA4-1CCD-4F38-9927-3E7CC6155B50}">
  <a:tblStyle styleId="{3324FAA4-1CCD-4F38-9927-3E7CC6155B5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43b4370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543b437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0977" y="1710819"/>
            <a:ext cx="7633598" cy="4350606"/>
            <a:chOff x="-49" y="0"/>
            <a:chExt cx="7633598" cy="4350606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-49" y="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Bernal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Team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Backend, documentación y modelamiento Base de Datos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9" y="1495506"/>
              <a:ext cx="7633500" cy="13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Marcela Candia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Organización de reuniones, desarrollo Frontend y documentación.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" y="299100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Favio Salgado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Gestionar el product backlog, desarrollo Backend y documentación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CESFAM administran el Programa de Niño Sano con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fragmentados, generando retrasos en la detección de atrasos en controles y vacunas.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Esto obliga a los equipos de salud a actuar de forma reactiva. A la vez,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padres y tutores carecen de un acceso centralizado a la información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Todo esto limita su participación en el cuidado infantil.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de gestión y alertas tempranas para el Programa de Niño Sano en CESFAM para mejorar la gestión del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mismo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optimizando la toma de decisiones y mejorando el acceso a la información tanto para los profesionales de salud como para los padres/tutores de los niños.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4"/>
          <p:cNvSpPr txBox="1"/>
          <p:nvPr/>
        </p:nvSpPr>
        <p:spPr>
          <a:xfrm>
            <a:off x="1" y="37577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 web  inteligente de gestión y alertas tempranas para el Programa de Niño Sano en CESFAM.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25" y="4457200"/>
            <a:ext cx="10962900" cy="221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al menos en un 40% el tiempo administrativo de los profesionales y garantizar el acceso centralizado a la información integral de salud en un periodo máximo de 12 meses. (historia, vacunas, nutrición).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en un 90% que la tasa de detección proactiva de riesgos (ej. retraso vacunal, malnutrición), mediante la implementación de alertas tempranas y visualización de métricas clave en una plataforma de Business Intelligence (BI) en un plazo máximo de 6 meses.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el acceso digital inmediato a la Ficha Control de Niño Sano para padres, visualizando la evolución del niño y asegurando la actualización del historial del paciente (vacunas, controles, nutrición) desde su nacimiento hasta su último control.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0" y="1363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Control de Niño Sano para tutores y profesionales.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centralizado que automatiza la detección de retrasos en controles y vacunas.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Cumple con el Documento Técnico del Niño Sano del MINSAL.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seguro para padres con acceso y notificaciones vía email.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con herramientas gratuitas y bajo costo, factible como MVP académico.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774975" y="2144975"/>
            <a:ext cx="52155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inicial limitado a CESFAM de prueba, no a nivel nacional.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al servidor del CESFAM.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reducido, por lo que, se prioriza solo funcionalidades esenciales del sistema.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capacitaciones y difusión que no se contemplan en el proyecto actual.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0" y="1034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6"/>
          <p:cNvSpPr txBox="1"/>
          <p:nvPr/>
        </p:nvSpPr>
        <p:spPr>
          <a:xfrm>
            <a:off x="4970850" y="1716374"/>
            <a:ext cx="225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CL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0325" y="2440100"/>
            <a:ext cx="7545624" cy="424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37647"/>
              </a:srgbClr>
            </a:outerShdw>
          </a:effectLst>
        </p:spPr>
      </p:pic>
      <p:sp>
        <p:nvSpPr>
          <p:cNvPr id="143" name="Google Shape;143;p6"/>
          <p:cNvSpPr txBox="1"/>
          <p:nvPr/>
        </p:nvSpPr>
        <p:spPr>
          <a:xfrm>
            <a:off x="10272100" y="6330500"/>
            <a:ext cx="177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Elaboración propia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" y="99290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87396" y="1639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{3324FAA4-1CCD-4F38-9927-3E7CC6155B50}</a:tableStyleId>
              </a:tblPr>
              <a:tblGrid>
                <a:gridCol w="1385025"/>
                <a:gridCol w="532600"/>
                <a:gridCol w="531475"/>
                <a:gridCol w="534550"/>
                <a:gridCol w="534550"/>
                <a:gridCol w="531475"/>
                <a:gridCol w="531475"/>
                <a:gridCol w="531475"/>
                <a:gridCol w="531475"/>
                <a:gridCol w="531475"/>
                <a:gridCol w="531475"/>
                <a:gridCol w="531475"/>
                <a:gridCol w="533525"/>
                <a:gridCol w="533525"/>
                <a:gridCol w="533525"/>
                <a:gridCol w="555650"/>
                <a:gridCol w="399875"/>
                <a:gridCol w="399875"/>
                <a:gridCol w="667175"/>
                <a:gridCol w="533525"/>
                <a:gridCol w="422000"/>
              </a:tblGrid>
              <a:tr h="293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24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Análisis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 – Seguridad, Autenticación y Gestión de Usuarios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2 – Modelado del Dominio Clínico y Pacientes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3 – Reglas avanzadas y actualización automática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 – Refactorización, Optimización de Rutas y Frontend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 – Dashboards, QA y Cierre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24100" y="2745450"/>
            <a:ext cx="52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800" y="0"/>
            <a:ext cx="5737751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9" title="DiagramaDeplo3.0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9100" y="2294555"/>
            <a:ext cx="7355841" cy="425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0"/>
          <p:cNvSpPr txBox="1"/>
          <p:nvPr/>
        </p:nvSpPr>
        <p:spPr>
          <a:xfrm>
            <a:off x="0" y="68321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0" title="image.png"/>
          <p:cNvPicPr preferRelativeResize="0"/>
          <p:nvPr/>
        </p:nvPicPr>
        <p:blipFill rotWithShape="1">
          <a:blip r:embed="rId4">
            <a:alphaModFix/>
          </a:blip>
          <a:srcRect b="1600" l="499" r="1537" t="722"/>
          <a:stretch/>
        </p:blipFill>
        <p:spPr>
          <a:xfrm>
            <a:off x="2585002" y="1329700"/>
            <a:ext cx="7220147" cy="5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a543b4370f_0_11"/>
          <p:cNvPicPr preferRelativeResize="0"/>
          <p:nvPr/>
        </p:nvPicPr>
        <p:blipFill rotWithShape="1">
          <a:blip r:embed="rId3">
            <a:alphaModFix/>
          </a:blip>
          <a:srcRect b="4381" l="0" r="3063" t="768"/>
          <a:stretch/>
        </p:blipFill>
        <p:spPr>
          <a:xfrm>
            <a:off x="445612" y="0"/>
            <a:ext cx="1130077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8750" y="7778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1"/>
          <p:cNvSpPr/>
          <p:nvPr/>
        </p:nvSpPr>
        <p:spPr>
          <a:xfrm>
            <a:off x="565225" y="1639700"/>
            <a:ext cx="32397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Tendencias de Asistencia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la tendencia trimestral de la asistencia al programa.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 patrones estacionales que podrían influir en la asistencia a controles.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Filtrado de controles no realizados en tabla controles, para luego extraer la fecha y calcular los trimestres de cada registro, luego se agrupan por los periodos temporales realizando un conteo, obteniendo  la cantidad exacta de asistencia.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476325" y="1683750"/>
            <a:ext cx="31413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Comparativo Anual de Estado Nutricional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el estado nutricional de los niños, agrupados por tramos de edad fijos.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identificar si las tendencias de malnutrición están mejorando o empeorando en el grupo etario específico.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definen los rangos etarios, en base a la fecha de nacimiento de los niños y las fechas actuales, luego se extraen los datos del control, donde esta la calificación nutricional y el IMC, dividiendolo por año, rango etario y la calificación nutricional, donde al final de esto se entrega el IMC promedio de la cantidad de niños.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170875" y="1683750"/>
            <a:ext cx="32904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Cobertura de Vacunación por Sector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la adherencia al calendario de vacunación a nivel geográfico.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identificar zonas con una baja cobertura, analizar posibles barreras de acceso y medir el impacto anual de las campañas de inmunización.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cruzan los datos de vacunación con los datos del sector de residencia del niño, luego se agrupan los datos por año (según la fecha programada) y por sector geográfico, finalmente se calcula el porcentaje de cobertura comparando el total de vacunas aplicadas contra el total de vacunas que estaban programadas en ese lugar y esa fecha.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12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 -&gt; Python, JavaScript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Marcado de Hipertexto -&gt; HTML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estilo -&gt; CSS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bases de datos relacionales -&gt;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286775" y="2208800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 -&gt; Visual Studio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Framework -&gt; Django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-&gt; Git,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Framework -&gt; Bootstrap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SQL Developer Data Modeler -&gt; Modelamiento de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83275" y="2694725"/>
            <a:ext cx="10962900" cy="27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programa Control de Niño Sano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automatizada de niños atrasados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plataforma web responsiva para profesionales y tutores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análiticos para comparación de datos para evaluar tendencias y tomar medidas al respecto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del seguimiento del niño para tutores, donde pueden visualizar y comparar los datos de sus niños con el estándar general.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850200" y="2498100"/>
            <a:ext cx="10962900" cy="348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Poca familiaridad con herramientas como Github, por lo que se tuvo que volver a estudiar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Coordinación de tiempo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Desconocimiento inicial del área de la salud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 referencia dispersa en diferentes sitios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en definición de la base de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1981200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s-CL" sz="4800"/>
              <a:t>Conclusión</a:t>
            </a:r>
            <a:endParaRPr/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725" y="1290598"/>
            <a:ext cx="7724328" cy="5149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620000" dist="1333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pic>
        <p:nvPicPr>
          <p:cNvPr descr="foto_preguntas.jpg" id="243" name="Google Shape;2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